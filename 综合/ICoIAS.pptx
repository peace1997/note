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2" r:id="rId4"/>
    <p:sldId id="263" r:id="rId5"/>
    <p:sldId id="264" r:id="rId6"/>
    <p:sldId id="265" r:id="rId7"/>
    <p:sldId id="267" r:id="rId8"/>
    <p:sldId id="272" r:id="rId9"/>
    <p:sldId id="266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59698" autoAdjust="0"/>
  </p:normalViewPr>
  <p:slideViewPr>
    <p:cSldViewPr>
      <p:cViewPr varScale="1">
        <p:scale>
          <a:sx n="128" d="100"/>
          <a:sy n="128" d="100"/>
        </p:scale>
        <p:origin x="176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4E1B6-88F1-4F90-90F1-12E22EE76D6E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3C87C-4304-4486-99E0-F830E0816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42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3C87C-4304-4486-99E0-F830E0816FB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806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34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825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657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37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876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24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426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183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a fundamental </a:t>
            </a:r>
            <a:r>
              <a:rPr lang="en-US" altLang="zh-CN" dirty="0" err="1"/>
              <a:t>concern,consensus</a:t>
            </a:r>
            <a:r>
              <a:rPr lang="en-US" altLang="zh-CN" dirty="0"/>
              <a:t> problem aims to achieve global agreement with only local interaction among agents.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3C87C-4304-4486-99E0-F830E0816F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372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9FE404-0E62-CD5D-9454-47D20079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18959"/>
            <a:ext cx="11049000" cy="42484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Group Partition and Group Information based Multi-agent Consensus Systems</a:t>
            </a:r>
          </a:p>
          <a:p>
            <a:pPr marL="0" indent="0" algn="ctr">
              <a:buNone/>
            </a:pPr>
            <a:endParaRPr lang="en-US" altLang="zh-CN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  <a:p>
            <a:pPr marL="0" indent="0" algn="ctr">
              <a:buNone/>
            </a:pPr>
            <a:r>
              <a:rPr lang="en-US" altLang="zh-CN" sz="2000" dirty="0" err="1">
                <a:latin typeface="Bahnschrift SemiLight" panose="020B0502040204020203" pitchFamily="34" charset="0"/>
              </a:rPr>
              <a:t>Peixin</a:t>
            </a:r>
            <a:r>
              <a:rPr lang="en-US" altLang="zh-CN" sz="2000" dirty="0">
                <a:latin typeface="Bahnschrift SemiLight" panose="020B0502040204020203" pitchFamily="34" charset="0"/>
              </a:rPr>
              <a:t> Ma, </a:t>
            </a:r>
            <a:r>
              <a:rPr lang="en-US" altLang="zh-CN" sz="2000" dirty="0" err="1">
                <a:latin typeface="Bahnschrift SemiLight" panose="020B0502040204020203" pitchFamily="34" charset="0"/>
              </a:rPr>
              <a:t>Junzheng</a:t>
            </a:r>
            <a:r>
              <a:rPr lang="en-US" altLang="zh-CN" sz="2000" dirty="0">
                <a:latin typeface="Bahnschrift SemiLight" panose="020B0502040204020203" pitchFamily="34" charset="0"/>
              </a:rPr>
              <a:t> Zheng, </a:t>
            </a:r>
            <a:r>
              <a:rPr lang="en-US" altLang="zh-CN" sz="2000" dirty="0" err="1">
                <a:latin typeface="Bahnschrift SemiLight" panose="020B0502040204020203" pitchFamily="34" charset="0"/>
              </a:rPr>
              <a:t>Xiaoyun</a:t>
            </a:r>
            <a:r>
              <a:rPr lang="en-US" altLang="zh-CN" sz="2000" dirty="0">
                <a:latin typeface="Bahnschrift SemiLight" panose="020B0502040204020203" pitchFamily="34" charset="0"/>
              </a:rPr>
              <a:t> Bi, </a:t>
            </a:r>
            <a:r>
              <a:rPr lang="en-US" altLang="zh-CN" sz="2000" dirty="0" err="1">
                <a:latin typeface="Bahnschrift SemiLight" panose="020B0502040204020203" pitchFamily="34" charset="0"/>
              </a:rPr>
              <a:t>Xintong</a:t>
            </a:r>
            <a:r>
              <a:rPr lang="en-US" altLang="zh-CN" sz="2000" dirty="0">
                <a:latin typeface="Bahnschrift SemiLight" panose="020B0502040204020203" pitchFamily="34" charset="0"/>
              </a:rPr>
              <a:t> Liang, </a:t>
            </a:r>
            <a:r>
              <a:rPr lang="en-US" altLang="zh-CN" sz="2000" dirty="0" err="1">
                <a:latin typeface="Bahnschrift SemiLight" panose="020B0502040204020203" pitchFamily="34" charset="0"/>
              </a:rPr>
              <a:t>Yujie</a:t>
            </a:r>
            <a:r>
              <a:rPr lang="en-US" altLang="zh-CN" sz="2000" dirty="0">
                <a:latin typeface="Bahnschrift SemiLight" panose="020B0502040204020203" pitchFamily="34" charset="0"/>
              </a:rPr>
              <a:t> </a:t>
            </a:r>
            <a:r>
              <a:rPr lang="en-US" altLang="zh-CN" sz="2000" dirty="0" err="1">
                <a:latin typeface="Bahnschrift SemiLight" panose="020B0502040204020203" pitchFamily="34" charset="0"/>
              </a:rPr>
              <a:t>Xie</a:t>
            </a:r>
            <a:r>
              <a:rPr lang="en-US" altLang="zh-CN" sz="2000" dirty="0">
                <a:latin typeface="Bahnschrift SemiLight" panose="020B0502040204020203" pitchFamily="34" charset="0"/>
              </a:rPr>
              <a:t>, Jian Hou</a:t>
            </a:r>
          </a:p>
          <a:p>
            <a:pPr marL="0" indent="0">
              <a:buNone/>
            </a:pPr>
            <a:endParaRPr lang="en-US" altLang="zh-CN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  <a:p>
            <a:pPr marL="0" indent="0" algn="ctr">
              <a:buNone/>
            </a:pPr>
            <a:r>
              <a:rPr lang="en-US" altLang="zh-CN" sz="2000" dirty="0">
                <a:latin typeface="Bahnschrift SemiLight" panose="020B0502040204020203" pitchFamily="34" charset="0"/>
              </a:rPr>
              <a:t>Presenter:  </a:t>
            </a:r>
            <a:r>
              <a:rPr lang="zh-CN" altLang="en-US" sz="2000" dirty="0">
                <a:latin typeface="Bahnschrift SemiLight" panose="020B0502040204020203" pitchFamily="34" charset="0"/>
              </a:rPr>
              <a:t> </a:t>
            </a:r>
            <a:r>
              <a:rPr lang="en-US" altLang="zh-CN" sz="2000" dirty="0" err="1">
                <a:latin typeface="Bahnschrift SemiLight" panose="020B0502040204020203" pitchFamily="34" charset="0"/>
              </a:rPr>
              <a:t>Peixin</a:t>
            </a:r>
            <a:r>
              <a:rPr lang="en-US" altLang="zh-CN" sz="2000" dirty="0">
                <a:latin typeface="Bahnschrift SemiLight" panose="020B0502040204020203" pitchFamily="34" charset="0"/>
              </a:rPr>
              <a:t> Ma, Zhejiang Sci-Tech University</a:t>
            </a:r>
            <a:endParaRPr lang="en-US" altLang="zh-CN" dirty="0"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9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83820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000" dirty="0"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Bahnschrift SemiLight" panose="020B0502040204020203" pitchFamily="34" charset="0"/>
              </a:rPr>
              <a:t>Consensus is a fundamental issue in distributed multi-agent systems, and utilizes the inter-agent relative state to update the state of each agent, so as to achieve global synchronization. </a:t>
            </a:r>
          </a:p>
          <a:p>
            <a:pPr marL="0" indent="0">
              <a:buNone/>
            </a:pPr>
            <a:endParaRPr lang="en-US" altLang="zh-CN" sz="2000" dirty="0"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altLang="zh-CN" sz="2000" dirty="0"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Bahnschrift SemiLight" panose="020B0502040204020203" pitchFamily="34" charset="0"/>
              </a:rPr>
              <a:t>Motivated by some scenarios such as privacy-preserving constraints, system measurement error, that the inter-agent relative states are not available, a novel strategy is required to achieve consensus.</a:t>
            </a:r>
          </a:p>
          <a:p>
            <a:pPr marL="0" indent="0">
              <a:buNone/>
            </a:pPr>
            <a:endParaRPr lang="en-US" altLang="zh-CN" sz="2000" dirty="0"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endParaRPr lang="zh-CN" altLang="en-US" sz="2000" dirty="0">
              <a:latin typeface="Bahnschrift SemiLight" panose="020B0502040204020203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D14521-EBBF-AD53-DA4C-82069B574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2552693"/>
            <a:ext cx="2447943" cy="1752613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7DB9B74-93FC-6DAD-2886-EED41AEF5F35}"/>
              </a:ext>
            </a:extLst>
          </p:cNvPr>
          <p:cNvSpPr txBox="1">
            <a:spLocks/>
          </p:cNvSpPr>
          <p:nvPr/>
        </p:nvSpPr>
        <p:spPr>
          <a:xfrm>
            <a:off x="304800" y="856958"/>
            <a:ext cx="10134600" cy="120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Introduction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79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9FE404-0E62-CD5D-9454-47D20079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6958"/>
            <a:ext cx="10134600" cy="1200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Model system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F9C1AC-45CA-CCD1-0F17-CDD690E5F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37014"/>
            <a:ext cx="5159900" cy="3810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37A36D5-94B1-6E0A-BB66-1D43550B4A7B}"/>
              </a:ext>
            </a:extLst>
          </p:cNvPr>
          <p:cNvSpPr txBox="1">
            <a:spLocks/>
          </p:cNvSpPr>
          <p:nvPr/>
        </p:nvSpPr>
        <p:spPr>
          <a:xfrm>
            <a:off x="990600" y="2392939"/>
            <a:ext cx="5791200" cy="120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Bahnschrift SemiLight" panose="020B0502040204020203" pitchFamily="34" charset="0"/>
              </a:rPr>
              <a:t>Consider n agents with a discrete-time model</a:t>
            </a:r>
            <a:endParaRPr lang="en-US" altLang="zh-CN" sz="2000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05CB385-9502-0E46-CF0A-C3AEF4F90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851" y="3188203"/>
            <a:ext cx="3982098" cy="5118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36B70994-DBC1-22C5-93D7-43943B81CB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3871046"/>
                <a:ext cx="5791200" cy="12004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 denote the state and control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input of agent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at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time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Bahnschrift SemiLight" panose="020B0502040204020203" pitchFamily="34" charset="0"/>
                  </a:rPr>
                  <a:t>k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rgbClr val="00A8C0"/>
                  </a:solidFill>
                  <a:latin typeface="Bahnschrift SemiLight" panose="020B0502040204020203" pitchFamily="34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solidFill>
                    <a:srgbClr val="00A8C0"/>
                  </a:solidFill>
                  <a:latin typeface="Bahnschrift Semi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36B70994-DBC1-22C5-93D7-43943B81C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871046"/>
                <a:ext cx="5791200" cy="1200441"/>
              </a:xfrm>
              <a:prstGeom prst="rect">
                <a:avLst/>
              </a:prstGeom>
              <a:blipFill>
                <a:blip r:embed="rId6"/>
                <a:stretch>
                  <a:fillRect l="-109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740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9FE404-0E62-CD5D-9454-47D20079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6958"/>
            <a:ext cx="10134600" cy="1200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=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144439C-D834-F144-61A5-146D2619D2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0" y="1738745"/>
                <a:ext cx="9067800" cy="350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2000" dirty="0">
                    <a:latin typeface="Bahnschrift SemiLight" panose="020B0502040204020203" pitchFamily="34" charset="0"/>
                  </a:rPr>
                  <a:t>The scenario that only two subgroups G1 and G2 are involved, The control law is given as :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Bahnschrift SemiLight" panose="020B0502040204020203" pitchFamily="34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Bahnschrift SemiLight" panose="020B0502040204020203" pitchFamily="34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Bahnschrift Semi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Bahnschrift SemiLight" panose="020B0502040204020203" pitchFamily="34" charset="0"/>
                  </a:rPr>
                  <a:t> denote the convex combination of states for all the agents in subgroup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Bahnschrift SemiLight" panose="020B0502040204020203" pitchFamily="34" charset="0"/>
                  </a:rPr>
                  <a:t>, that is: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144439C-D834-F144-61A5-146D2619D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738745"/>
                <a:ext cx="9067800" cy="3505200"/>
              </a:xfrm>
              <a:prstGeom prst="rect">
                <a:avLst/>
              </a:prstGeom>
              <a:blipFill>
                <a:blip r:embed="rId4"/>
                <a:stretch>
                  <a:fillRect l="-672" t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142D1C16-F6AA-74E2-0FFF-DD4E9B6E2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2552699"/>
            <a:ext cx="4083736" cy="7813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3B9B04C-9090-C0ED-E230-3CD827EF73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4377533"/>
            <a:ext cx="2863298" cy="8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0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4439C-D834-F144-61A5-146D2619D290}"/>
              </a:ext>
            </a:extLst>
          </p:cNvPr>
          <p:cNvSpPr txBox="1">
            <a:spLocks/>
          </p:cNvSpPr>
          <p:nvPr/>
        </p:nvSpPr>
        <p:spPr>
          <a:xfrm>
            <a:off x="1143000" y="1676400"/>
            <a:ext cx="10439400" cy="350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宋体" panose="02010600030101010101" pitchFamily="2" charset="-122"/>
                <a:cs typeface="+mn-cs"/>
              </a:rPr>
              <a:t>Thus, we could obtain the overall system as </a:t>
            </a:r>
            <a:r>
              <a:rPr lang="en-US" altLang="zh-CN" sz="2000" dirty="0">
                <a:solidFill>
                  <a:prstClr val="black"/>
                </a:solidFill>
                <a:latin typeface="Bahnschrift SemiLight" panose="020B0502040204020203" pitchFamily="34" charset="0"/>
                <a:ea typeface="宋体" panose="02010600030101010101" pitchFamily="2" charset="-122"/>
              </a:rPr>
              <a:t>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Bahnschrift SemiLight" panose="020B0502040204020203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Bahnschrift SemiLight" panose="020B0502040204020203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Bahnschrift SemiLight" panose="020B0502040204020203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DAD03B-A290-B6E4-66FC-C6D6CA01E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353644"/>
            <a:ext cx="3591520" cy="7858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40E07A-1C35-EBD8-F43D-160BC4303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3298277"/>
            <a:ext cx="4312601" cy="1491389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23B0DF6-A292-E8D4-B676-79408AF7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6958"/>
            <a:ext cx="10134600" cy="1200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=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26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4439C-D834-F144-61A5-146D2619D290}"/>
              </a:ext>
            </a:extLst>
          </p:cNvPr>
          <p:cNvSpPr txBox="1">
            <a:spLocks/>
          </p:cNvSpPr>
          <p:nvPr/>
        </p:nvSpPr>
        <p:spPr>
          <a:xfrm>
            <a:off x="838200" y="1631345"/>
            <a:ext cx="10439400" cy="350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80CDA4-F917-63DC-86A5-267E6F7CC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545" y="2999493"/>
            <a:ext cx="3982098" cy="51189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060EEEA-70D3-B5BA-D3EE-2D7D4ACCC687}"/>
              </a:ext>
            </a:extLst>
          </p:cNvPr>
          <p:cNvSpPr txBox="1"/>
          <p:nvPr/>
        </p:nvSpPr>
        <p:spPr>
          <a:xfrm>
            <a:off x="1143001" y="1676400"/>
            <a:ext cx="944880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宋体" panose="02010600030101010101" pitchFamily="2" charset="-122"/>
                <a:cs typeface="+mn-cs"/>
              </a:rPr>
              <a:t>Theorem 1: When all the agents are divided into two subgroups, the system under control law achieves consensus in mean if and only if γ &gt; 1.</a:t>
            </a:r>
          </a:p>
          <a:p>
            <a:pPr>
              <a:spcBef>
                <a:spcPct val="20000"/>
              </a:spcBef>
              <a:defRPr/>
            </a:pPr>
            <a:endParaRPr lang="en-US" altLang="zh-CN" dirty="0">
              <a:solidFill>
                <a:prstClr val="black"/>
              </a:solidFill>
              <a:latin typeface="Bahnschrift SemiLight" panose="020B0502040204020203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宋体" panose="02010600030101010101" pitchFamily="2" charset="-122"/>
                <a:cs typeface="+mn-cs"/>
              </a:rPr>
              <a:t>Proof</a:t>
            </a:r>
            <a:r>
              <a:rPr lang="zh-CN" altLang="en-US" dirty="0">
                <a:solidFill>
                  <a:prstClr val="black"/>
                </a:solidFill>
                <a:latin typeface="Bahnschrift SemiLight" panose="020B0502040204020203" pitchFamily="34" charset="0"/>
                <a:ea typeface="宋体" panose="02010600030101010101" pitchFamily="2" charset="-122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0000"/>
              </a:spcBef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FDF1C9-96E4-DC83-C7DE-DA70CBAA4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784" y="3797483"/>
            <a:ext cx="4083736" cy="78134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4D536ED-E843-5559-7254-94567970CE30}"/>
              </a:ext>
            </a:extLst>
          </p:cNvPr>
          <p:cNvCxnSpPr>
            <a:cxnSpLocks/>
          </p:cNvCxnSpPr>
          <p:nvPr/>
        </p:nvCxnSpPr>
        <p:spPr>
          <a:xfrm>
            <a:off x="5277672" y="3928978"/>
            <a:ext cx="2189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3AB6E81-D85F-CC8F-79BA-47648EE8D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4448" y="2968239"/>
            <a:ext cx="4179930" cy="7744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998E277-32F8-3674-2895-C422733802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281" y="3228339"/>
            <a:ext cx="2257442" cy="5143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5DA4F6-BF9B-B256-B5DC-7B4FD039EE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4712" y="4135568"/>
            <a:ext cx="3576277" cy="514354"/>
          </a:xfrm>
          <a:prstGeom prst="rect">
            <a:avLst/>
          </a:prstGeom>
        </p:spPr>
      </p:pic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3BED883-BEF6-82CB-8B0C-E2A44C88FC0B}"/>
              </a:ext>
            </a:extLst>
          </p:cNvPr>
          <p:cNvSpPr txBox="1">
            <a:spLocks/>
          </p:cNvSpPr>
          <p:nvPr/>
        </p:nvSpPr>
        <p:spPr>
          <a:xfrm>
            <a:off x="304800" y="856958"/>
            <a:ext cx="10134600" cy="120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=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87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B32ACF-CC16-AE1E-C092-E525AD9F8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571310"/>
            <a:ext cx="3795684" cy="34175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6C9A30F-4693-D0A9-264A-6741F963E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884" y="1676400"/>
            <a:ext cx="3900516" cy="3352825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B8A0C8-0CAE-56EE-761F-875F91B16722}"/>
              </a:ext>
            </a:extLst>
          </p:cNvPr>
          <p:cNvSpPr txBox="1">
            <a:spLocks/>
          </p:cNvSpPr>
          <p:nvPr/>
        </p:nvSpPr>
        <p:spPr>
          <a:xfrm>
            <a:off x="304800" y="856958"/>
            <a:ext cx="10134600" cy="120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=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41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B8A0C8-0CAE-56EE-761F-875F91B16722}"/>
              </a:ext>
            </a:extLst>
          </p:cNvPr>
          <p:cNvSpPr txBox="1">
            <a:spLocks/>
          </p:cNvSpPr>
          <p:nvPr/>
        </p:nvSpPr>
        <p:spPr>
          <a:xfrm>
            <a:off x="304800" y="856958"/>
            <a:ext cx="10134600" cy="120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=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F53F40-E7C3-1CA0-DCC4-DB777E30C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08" y="1945095"/>
            <a:ext cx="3995771" cy="330467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8C0E945-41F9-101A-7986-E9553950AFC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40" r="4038"/>
          <a:stretch/>
        </p:blipFill>
        <p:spPr>
          <a:xfrm>
            <a:off x="5795929" y="1981200"/>
            <a:ext cx="5272121" cy="330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6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11036" y="1751211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80CDA4-F917-63DC-86A5-267E6F7CC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60" y="3233243"/>
            <a:ext cx="3982098" cy="5118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060EEEA-70D3-B5BA-D3EE-2D7D4ACCC687}"/>
                  </a:ext>
                </a:extLst>
              </p:cNvPr>
              <p:cNvSpPr txBox="1"/>
              <p:nvPr/>
            </p:nvSpPr>
            <p:spPr>
              <a:xfrm>
                <a:off x="1066800" y="1760257"/>
                <a:ext cx="10134600" cy="1920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 SemiLight" panose="020B0502040204020203" pitchFamily="34" charset="0"/>
                    <a:ea typeface="宋体" panose="02010600030101010101" pitchFamily="2" charset="-122"/>
                    <a:cs typeface="+mn-cs"/>
                  </a:rPr>
                  <a:t>Theorem 2: When all the agents are divided into multiple subgroups, and only two subgroups chosen by Gossip algorithm update their agents’ states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Bahnschrift SemiLight" panose="020B0502040204020203" pitchFamily="34" charset="0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 SemiLight" panose="020B0502040204020203" pitchFamily="34" charset="0"/>
                    <a:ea typeface="宋体" panose="02010600030101010101" pitchFamily="2" charset="-122"/>
                    <a:cs typeface="+mn-cs"/>
                  </a:rPr>
                  <a:t>, the system achieves consensus in mean if γ &gt; 1, and the partition probability for each subgroup is equal.</a:t>
                </a:r>
              </a:p>
              <a:p>
                <a:pPr lvl="0">
                  <a:spcBef>
                    <a:spcPct val="20000"/>
                  </a:spcBef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SemiLight" panose="020B0502040204020203" pitchFamily="34" charset="0"/>
                  <a:ea typeface="宋体" panose="02010600030101010101" pitchFamily="2" charset="-122"/>
                  <a:cs typeface="+mn-cs"/>
                </a:endParaRPr>
              </a:p>
              <a:p>
                <a:pPr lvl="0">
                  <a:spcBef>
                    <a:spcPct val="20000"/>
                  </a:spcBef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 SemiLight" panose="020B0502040204020203" pitchFamily="34" charset="0"/>
                    <a:ea typeface="宋体" panose="02010600030101010101" pitchFamily="2" charset="-122"/>
                    <a:cs typeface="+mn-cs"/>
                  </a:rPr>
                  <a:t>Proof</a:t>
                </a:r>
                <a:r>
                  <a:rPr lang="zh-CN" altLang="en-US" dirty="0">
                    <a:solidFill>
                      <a:prstClr val="black"/>
                    </a:solidFill>
                    <a:latin typeface="Bahnschrift SemiLight" panose="020B0502040204020203" pitchFamily="34" charset="0"/>
                    <a:ea typeface="宋体" panose="02010600030101010101" pitchFamily="2" charset="-122"/>
                  </a:rPr>
                  <a:t>：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SemiLight" panose="020B0502040204020203" pitchFamily="34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SemiLight" panose="020B0502040204020203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060EEEA-70D3-B5BA-D3EE-2D7D4ACCC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760257"/>
                <a:ext cx="10134600" cy="1920526"/>
              </a:xfrm>
              <a:prstGeom prst="rect">
                <a:avLst/>
              </a:prstGeom>
              <a:blipFill>
                <a:blip r:embed="rId5"/>
                <a:stretch>
                  <a:fillRect l="-501" t="-1316" r="-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4D536ED-E843-5559-7254-94567970CE30}"/>
              </a:ext>
            </a:extLst>
          </p:cNvPr>
          <p:cNvCxnSpPr>
            <a:cxnSpLocks/>
          </p:cNvCxnSpPr>
          <p:nvPr/>
        </p:nvCxnSpPr>
        <p:spPr>
          <a:xfrm>
            <a:off x="5486260" y="4267420"/>
            <a:ext cx="1513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C998E277-32F8-3674-2895-C42273380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526" y="3606508"/>
            <a:ext cx="2257442" cy="5143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612BDA-449B-7D0C-71BB-B1F8947466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4038600"/>
            <a:ext cx="3799806" cy="87925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0E6AA6-8560-BAD7-395A-FEF5D81DF4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6204" y="3025031"/>
            <a:ext cx="3348355" cy="133517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EE99788-75EE-DA92-1312-7B475624B1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0" y="4360201"/>
            <a:ext cx="4210371" cy="745198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9210BA3-6D21-B07B-114A-8E3B5752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6958"/>
            <a:ext cx="10134600" cy="1200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&gt;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8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E9BB19-8FFC-6DE0-06AB-D742B47FC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016" y="1788307"/>
            <a:ext cx="4550584" cy="3737010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A1F2717-56EE-2B14-D9E8-6197211B8720}"/>
              </a:ext>
            </a:extLst>
          </p:cNvPr>
          <p:cNvSpPr txBox="1">
            <a:spLocks/>
          </p:cNvSpPr>
          <p:nvPr/>
        </p:nvSpPr>
        <p:spPr>
          <a:xfrm>
            <a:off x="304800" y="856958"/>
            <a:ext cx="10134600" cy="120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>
                <a:solidFill>
                  <a:srgbClr val="00A8C0"/>
                </a:solidFill>
                <a:latin typeface="Bahnschrift SemiLight" panose="020B0502040204020203" pitchFamily="34" charset="0"/>
              </a:rPr>
              <a:t>Subgroup number m &gt; 2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1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9FE404-0E62-CD5D-9454-47D20079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2895600"/>
            <a:ext cx="10134600" cy="1200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A8C0"/>
                </a:solidFill>
                <a:latin typeface="Bahnschrift SemiLight" panose="020B0502040204020203" pitchFamily="34" charset="0"/>
              </a:rPr>
              <a:t>Thanks</a:t>
            </a:r>
            <a:endParaRPr lang="zh-CN" altLang="en-US" dirty="0">
              <a:solidFill>
                <a:srgbClr val="00A8C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F553EB-EAAF-E464-78F4-700AC381706D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439400" cy="424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A8C0"/>
              </a:solidFill>
              <a:effectLst/>
              <a:uLnTx/>
              <a:uFillTx/>
              <a:latin typeface="Bahnschrift SemiLight" panose="020B0502040204020203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891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494</Words>
  <Application>Microsoft Macintosh PowerPoint</Application>
  <PresentationFormat>宽屏</PresentationFormat>
  <Paragraphs>72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Arial</vt:lpstr>
      <vt:lpstr>Bahnschrift SemiLight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students1395</cp:lastModifiedBy>
  <cp:revision>14</cp:revision>
  <dcterms:created xsi:type="dcterms:W3CDTF">2006-08-16T00:00:00Z</dcterms:created>
  <dcterms:modified xsi:type="dcterms:W3CDTF">2022-09-22T07:56:40Z</dcterms:modified>
</cp:coreProperties>
</file>